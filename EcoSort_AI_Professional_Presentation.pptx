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77" r:id="rId23"/>
    <p:sldId id="278" r:id="rId24"/>
    <p:sldId id="279" r:id="rId25"/>
    <p:sldId id="296" r:id="rId26"/>
    <p:sldId id="297" r:id="rId27"/>
    <p:sldId id="280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295" autoAdjust="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245DDB-258C-4A9F-8941-74307593A31E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D64C26-8EDB-4EE2-8E0F-BF5379AA3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91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D64C26-8EDB-4EE2-8E0F-BF5379AA3D6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886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v.org/" TargetMode="External"/><Relationship Id="rId2" Type="http://schemas.openxmlformats.org/officeDocument/2006/relationships/hyperlink" Target="https://docs.ultralytics.com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0" y="9144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0"/>
            </a:pPr>
            <a:r>
              <a:rPr dirty="0"/>
              <a:t>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ECOSORT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Hệ Thống Phân Loại Rác Thông Minh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Ứng dụng Deep Learning (YOLO) trong Quản lý Chất thải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📋 Nội dung Báo cáo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" y="1371600"/>
            <a:ext cx="3689142" cy="4975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1. Phát biểu Bài toán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Vấn đề môi trường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Mục tiêu nghiên cứu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Phạm vi đề </a:t>
            </a:r>
            <a:r>
              <a:rPr dirty="0" smtClean="0"/>
              <a:t>tài</a:t>
            </a:r>
            <a:endParaRPr lang="en-US"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2. Phân tích Dữ liệu (EDA)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Cấu trúc dataset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Phân bố các lớp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Tiền xử lý dữ </a:t>
            </a:r>
            <a:r>
              <a:rPr dirty="0" smtClean="0"/>
              <a:t>liệu</a:t>
            </a:r>
            <a:endParaRPr lang="en-US"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3. Giải pháp 1: YOLOv8n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Kiến trúc mô hình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Quá trình huấn luyện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Kết quả đánh </a:t>
            </a:r>
            <a:r>
              <a:rPr dirty="0" smtClean="0"/>
              <a:t>giá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429522" y="1367709"/>
            <a:ext cx="6096000" cy="46474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vi-VN" dirty="0" smtClean="0"/>
              <a:t>• 4. Giải pháp 2: YOLO11n</a:t>
            </a:r>
            <a:r>
              <a:rPr lang="en-US" dirty="0" smtClean="0"/>
              <a:t>               </a:t>
            </a:r>
            <a:endParaRPr lang="vi-VN"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lang="vi-VN" dirty="0" smtClean="0"/>
              <a:t>   ◦ </a:t>
            </a:r>
            <a:r>
              <a:rPr lang="en-US" dirty="0"/>
              <a:t>Kiến trúc mô hình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lang="en-US" dirty="0"/>
              <a:t>    ◦ Quá trình huấn luyện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lang="en-US" dirty="0"/>
              <a:t>    ◦ Kết quả đánh </a:t>
            </a:r>
            <a:r>
              <a:rPr lang="en-US" dirty="0" smtClean="0"/>
              <a:t>giá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lang="en-US" dirty="0" smtClean="0"/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vi-VN" dirty="0"/>
              <a:t>• </a:t>
            </a:r>
            <a:r>
              <a:rPr lang="en-US" dirty="0"/>
              <a:t>5</a:t>
            </a:r>
            <a:r>
              <a:rPr lang="vi-VN" dirty="0" smtClean="0"/>
              <a:t>. </a:t>
            </a:r>
            <a:r>
              <a:rPr lang="vi-VN" dirty="0"/>
              <a:t>Giải pháp </a:t>
            </a:r>
            <a:r>
              <a:rPr lang="en-US" dirty="0" smtClean="0"/>
              <a:t>3</a:t>
            </a:r>
            <a:r>
              <a:rPr lang="vi-VN" dirty="0" smtClean="0"/>
              <a:t>: YOLO</a:t>
            </a:r>
            <a:r>
              <a:rPr lang="en-US" dirty="0" smtClean="0"/>
              <a:t>v8s</a:t>
            </a:r>
            <a:endParaRPr lang="vi-VN"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lang="vi-VN" dirty="0" smtClean="0"/>
              <a:t>   ◦ </a:t>
            </a:r>
            <a:r>
              <a:rPr lang="en-US" dirty="0"/>
              <a:t>Kiến trúc mô hình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lang="en-US" dirty="0"/>
              <a:t>    ◦ Quá trình huấn luyện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lang="en-US" dirty="0"/>
              <a:t>    ◦ Kết quả đánh </a:t>
            </a:r>
            <a:r>
              <a:rPr lang="en-US" dirty="0" smtClean="0"/>
              <a:t>giá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lang="en-US" dirty="0" smtClean="0"/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vi-VN" dirty="0"/>
              <a:t>• </a:t>
            </a:r>
            <a:r>
              <a:rPr lang="en-US" dirty="0" smtClean="0"/>
              <a:t>6</a:t>
            </a:r>
            <a:r>
              <a:rPr lang="vi-VN" dirty="0" smtClean="0"/>
              <a:t>. </a:t>
            </a:r>
            <a:r>
              <a:rPr lang="en-US" dirty="0" smtClean="0"/>
              <a:t>So sánh và đánh giá</a:t>
            </a:r>
            <a:endParaRPr lang="vi-VN" dirty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lang="vi-VN" dirty="0"/>
              <a:t>   </a:t>
            </a:r>
            <a:endParaRPr lang="en-US" dirty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lang="vi-VN" dirty="0"/>
          </a:p>
        </p:txBody>
      </p:sp>
      <p:sp>
        <p:nvSpPr>
          <p:cNvPr id="6" name="Rectangle 5"/>
          <p:cNvSpPr/>
          <p:nvPr/>
        </p:nvSpPr>
        <p:spPr>
          <a:xfrm>
            <a:off x="8518382" y="1367709"/>
            <a:ext cx="6096000" cy="146706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vi-VN" dirty="0"/>
              <a:t>• </a:t>
            </a:r>
            <a:r>
              <a:rPr lang="en-US" dirty="0" smtClean="0"/>
              <a:t>7</a:t>
            </a:r>
            <a:r>
              <a:rPr lang="vi-VN" dirty="0" smtClean="0"/>
              <a:t>. </a:t>
            </a:r>
            <a:r>
              <a:rPr lang="vi-VN" dirty="0"/>
              <a:t>Sản phẩm Cuối cùng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lang="vi-VN" dirty="0"/>
              <a:t>    ◦ Kiến trúc hệ thống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lang="vi-VN" dirty="0"/>
              <a:t>    ◦ Demo ứng dụng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lang="vi-VN" dirty="0"/>
              <a:t>    ◦ Đánh giá tổng thể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4630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12121"/>
                </a:solidFill>
              </a:defRPr>
            </a:pPr>
            <a:r>
              <a:t>PHÁT BIỂU BÀI TOÁN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4688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757575"/>
                </a:solidFill>
              </a:defRPr>
            </a:pPr>
            <a:r>
              <a:t>Problem Statement &amp; Motivation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🌍 Vấn đề Môi trường Hiện nay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t>• Tình trạng rác thải tại Việt Nam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Hơn 60,000 tấn rác thải sinh hoạt mỗi ngày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Chỉ 15% được tái chế đúng cách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85% được chôn lấp hoặc đốt, gây ô nhiễm nghiêm trọng</a:t>
            </a:r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t>• Nguyên nhân chính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Thiếu nhận thức về phân loại rác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Không có công cụ hỗ trợ tự động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Quy trình phân loại thủ công tốn thời gian</a:t>
            </a:r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t>• Hậu quả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Ô nhiễm đất, nước, không khí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Lãng phí tài nguyên tái chế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Tác động tiêu cực đến sức khỏe cộng đồng</a:t>
            </a:r>
          </a:p>
        </p:txBody>
      </p:sp>
      <p:pic>
        <p:nvPicPr>
          <p:cNvPr id="1028" name="Picture 4" descr="3+ Million Sin Basura Royalty-Free Images, Stock Photos &amp; Pictures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576" y="1459344"/>
            <a:ext cx="4758170" cy="450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Mục tiêu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Mục tiêu tổng quát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Xây dựng hệ thống AI phân loại rác thải tự động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Hỗ trợ người dùng nhận diện và phân loại rác đúng </a:t>
            </a:r>
            <a:r>
              <a:rPr dirty="0" smtClean="0"/>
              <a:t>cách</a:t>
            </a:r>
            <a:endParaRPr lang="en-US"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Mục tiêu cụ thể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Nhận diện 40 loại rác thải khác nhau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Phân loại thành 3 nhóm: Hữu cơ, Vô cơ, Tái chế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Đạt độ chính xác trên 80% (mAP@50)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Xử lý real-time với tốc độ &gt; 30 </a:t>
            </a:r>
            <a:r>
              <a:rPr dirty="0" smtClean="0"/>
              <a:t>FPS</a:t>
            </a:r>
            <a:endParaRPr lang="en-US"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Phạm vi đề tài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Nghiên cứu và triển khai mô hình YOLO (v8 &amp; v11)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Phát triển ứng dụng web demo với FastAPI + HTML/CSS/JS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4630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12121"/>
                </a:solidFill>
              </a:defRPr>
            </a:pPr>
            <a:r>
              <a:t>PHÂN TÍCH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4688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757575"/>
                </a:solidFill>
              </a:defRPr>
            </a:pPr>
            <a:r>
              <a:t>Exploratory Data Analysis (EDA)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Tổng quan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Tổng số lớp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t>classes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Organic (Hữu cơ)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0312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8346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t>classes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Inorganic (Vô cơ)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t>classes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66160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749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Recyclable (Tái chế)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062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t>classes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566160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3749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Kích thước ảnh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2062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t>640×640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9377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t>pixels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566160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3749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Định dạng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2062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t>YOLO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9377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t>annotation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🏷️ Chi tiết các Lớp Phân loại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ORGANIC (33 lớp - Rác hữu cơ):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Trái cây: Apple, Orange, Pear, Tomato...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Thực phẩm: Bread, Rice, Noodle, Pasta...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Thịt/Cá: Meat, Fish, Shrimp, Mussel...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Trứng: Egg-hard, Egg-scramble, Egg-shell...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Rau củ: Vegetable, Potato, Tofu...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Khác: Bone, Bone-fish, Other-waste...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188720"/>
            <a:ext cx="27432" cy="50292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INORGANIC (2 lớp - Rác vô cơ):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• plastic_bag (Túi nhựa)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• styrofoam (Xốp)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RECYCLABLE (5 lớp - Tái chế):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• Cardboard (Bìa carton)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• Glass (Thủy tinh)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• Metal (Kim loại)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• Paper (Giấy)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• Plastic (Nhựa)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📈 Phân bố Dữ liệu</a:t>
            </a:r>
          </a:p>
        </p:txBody>
      </p:sp>
      <p:pic>
        <p:nvPicPr>
          <p:cNvPr id="7" name="Picture 6" descr="C:\Users\nguye\OneDrive\documents\PT_NHANDANGMAU\projectFinal\all output\image_explore_data\class_distribution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18" y="1440873"/>
            <a:ext cx="5179291" cy="4729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C:\Users\nguye\OneDrive\documents\PT_NHANDANGMAU\projectFinal\all output\image_explore_data\category_distribution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145" y="1681019"/>
            <a:ext cx="6169891" cy="4230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C:\Users\nguye\OneDrive\documents\PT_NHANDANGMAU\projectFinal\all output\image_explore_data\class_distribution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18" y="1593273"/>
            <a:ext cx="5179291" cy="4729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🖼️ Ảnh Mẫu từ Dataset</a:t>
            </a:r>
          </a:p>
        </p:txBody>
      </p:sp>
      <p:pic>
        <p:nvPicPr>
          <p:cNvPr id="7" name="Picture 6" descr="C:\Users\nguye\OneDrive\documents\PT_NHANDANGMAU\projectFinal\all output\runs\yolo11n_waste_optimized\train_batch75692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490" y="1143000"/>
            <a:ext cx="8054109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⚙️ Tiền xử lý Dữ liệu (Data Preprocessing)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t>• 1. Chuẩn hóa Kích thước Ảnh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Resize tất cả ảnh về kích thước 640×640 pixels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Giữ nguyên tỷ lệ khung hình (aspect ratio)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Padding với màu xám (letterbox) nếu cần</a:t>
            </a:r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t>• 2. Chuẩn hóa Giá trị Pixel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Chuyển đổi từ [0, 255] → [0, 1] (normalization)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Định dạng: RGB với 3 channels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Data type: float32 cho inference</a:t>
            </a:r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t>• 3. Chuyển đổi Annotations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Định dạng YOLO: [class_id, x_center, y_center, width, height]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Tọa độ được chuẩn hóa về [0, 1]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Mỗi ảnh có 1 file .txt tương ứng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🔄 Tăng cường Dữ liệu (Data Augmentation)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Geometric Transformations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Mosaic (4 ảnh ghép): 1.0 (100% áp dụng)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Random Flip: flipud=0.5, fliplr=0.5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Scale: 0.5 (thu phóng ngẫu nhiên)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Rotation: degrees=10°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Translation: translate=0.1</a:t>
            </a:r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Color Augmentation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HSV Hue: hsv_h=0.015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HSV Saturation: hsv_s=0.7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HSV Value: hsv_v=0.4</a:t>
            </a:r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Advanced Augmentation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MixUp: 0.1 - 0.15 (trộn 2 ảnh)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Copy-Paste: 0.1 (copy object sang ảnh khác)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Shear: 2.0°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Perspective: 0.0001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948" y="1280160"/>
            <a:ext cx="5371172" cy="48650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Chia tập Dữ liệu (Data Split)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792" y="1611746"/>
            <a:ext cx="1051560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Cấu trúc thư mục Dataset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📁 train/ - Tập huấn luyện (training set)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📁 valid/ - Tập validation (kiểm tra trong quá trình train)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📁 test/ - Tập test (đánh giá cuối </a:t>
            </a:r>
            <a:r>
              <a:rPr dirty="0" smtClean="0"/>
              <a:t>cùng)</a:t>
            </a:r>
            <a:endParaRPr lang="en-US"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lang="en-US"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lang="en-US" dirty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Tỷ lệ chia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Training: ~70-80% tổng số ảnh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Validation: ~10-15% tổng số </a:t>
            </a:r>
            <a:r>
              <a:rPr dirty="0" smtClean="0"/>
              <a:t>ảnh</a:t>
            </a:r>
            <a:r>
              <a:rPr lang="en-US" dirty="0" smtClean="0"/>
              <a:t>        </a:t>
            </a: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Test: ~10-15% tổng số </a:t>
            </a:r>
            <a:r>
              <a:rPr dirty="0" smtClean="0"/>
              <a:t>ảnh</a:t>
            </a:r>
            <a:endParaRPr dirty="0"/>
          </a:p>
        </p:txBody>
      </p:sp>
      <p:pic>
        <p:nvPicPr>
          <p:cNvPr id="5" name="Picture 4" descr="C:\Users\nguye\OneDrive\documents\PT_NHANDANGMAU\projectFinal\all output\image_explore_data\split_distribution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367" y="3478808"/>
            <a:ext cx="5654225" cy="240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745" y="1413891"/>
            <a:ext cx="3639128" cy="18670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4630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12121"/>
                </a:solidFill>
              </a:defRPr>
            </a:pPr>
            <a:r>
              <a:t>GIẢI PHÁP 1: YOLOv8n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4688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757575"/>
                </a:solidFill>
              </a:defRPr>
            </a:pPr>
            <a:r>
              <a:t>You Only Look Once - Version 8 Nano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🏗️ Kiến trúc YOLOv8n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t>• Đặc điểm chính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State-of-the-art object detection (2023)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Anchor-free detection approach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CSPDarknet53 backbone với SPPF module</a:t>
            </a:r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t>• Cấu trúc mạng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Backbone: Feature extraction từ input image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Neck: PANet + FPN cho multi-scale fusion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Head: Decoupled head cho classification &amp; regression</a:t>
            </a:r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t>• Ưu điểm YOLOv8n (Nano)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Kích thước nhỏ gọn: 6.1 MB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Phù hợp cho edge devices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◦ Cân bằng giữa tốc độ và độ chính xác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⚙️ Cấu hình Huấn luyện YOLOv8n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46304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Tham số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Giá trị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Mô tả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Số vòng lặp huấn luyện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Số ảnh/batch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Image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640×640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Kích thước đầu vào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AdamW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Thuật toán tối ưu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Tốc độ học ban đầu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Patience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Early stopping epochs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Mosaic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Data augmentation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MixUp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Blend augmentation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📈 Quá trình Huấn luyện YOLOv8n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Tiến triển qua các epoch: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Epoch 10: mAP@50 = 40.19%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Epoch 25: mAP@50 = 56.98%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Epoch 50: mAP@50 = 61.13%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Epoch 75: mAP@50 = 62.80%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Epoch 100: mAP@50-95 = 63.91</a:t>
            </a:r>
            <a:r>
              <a:rPr dirty="0" smtClean="0"/>
              <a:t>%</a:t>
            </a:r>
            <a:endParaRPr lang="en-US"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Nhận xét: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Mô hình hội tụ ổn định sau epoch 80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Thời gian train: ~4.6 giờ </a:t>
            </a:r>
            <a:r>
              <a:rPr dirty="0" smtClean="0"/>
              <a:t>(GPU</a:t>
            </a:r>
            <a:r>
              <a:rPr lang="en-US" dirty="0"/>
              <a:t> </a:t>
            </a:r>
            <a:r>
              <a:rPr lang="en-US" dirty="0" smtClean="0"/>
              <a:t>P100</a:t>
            </a:r>
            <a:r>
              <a:rPr dirty="0" smtClean="0"/>
              <a:t>)</a:t>
            </a: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Loss giảm đều đặn, không overfitting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📊 Đường cong Huấn luyện YOLOv8n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56" y="1143000"/>
            <a:ext cx="10972822" cy="548641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🎯 Confusion Matrix - YOLOv8n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476" y="1138136"/>
            <a:ext cx="8440616" cy="57198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80495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🏆 Kết quả YOLOv8n </a:t>
            </a:r>
            <a:r>
              <a:rPr lang="en-US" dirty="0" smtClean="0"/>
              <a:t> 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mAP@50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t>63.91%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t>Mean Average 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mAP@50-95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0312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t>43.77%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8346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t>Strict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3638" y="2103120"/>
            <a:ext cx="158088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rPr lang="en-US" dirty="0" smtClean="0"/>
              <a:t>77.78</a:t>
            </a:r>
            <a:r>
              <a:rPr dirty="0" smtClean="0"/>
              <a:t>%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t>Độ chính xác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78102" y="3754877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68880" y="38404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rPr dirty="0"/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14" y="4207770"/>
            <a:ext cx="134684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rPr lang="en-US" dirty="0" smtClean="0"/>
              <a:t>58.6</a:t>
            </a:r>
            <a:r>
              <a:rPr dirty="0" smtClean="0"/>
              <a:t>%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2460982" y="4962079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rPr dirty="0"/>
              <a:t>Độ bao phủ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7258" y="3749040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0138" y="3749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FPS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9000" y="4160520"/>
            <a:ext cx="202331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rPr lang="en-US" dirty="0" smtClean="0"/>
              <a:t>119.9 FPS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6556174" y="48006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rPr dirty="0"/>
              <a:t>Frames per Second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4630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12121"/>
                </a:solidFill>
              </a:defRPr>
            </a:pPr>
            <a:r>
              <a:t>GIẢI PHÁP 2: YOLO11n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4688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757575"/>
                </a:solidFill>
              </a:defRPr>
            </a:pPr>
            <a:r>
              <a:t>YOLO Version 11 - Latest Generation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54270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 smtClean="0"/>
              <a:t> </a:t>
            </a:r>
            <a:r>
              <a:rPr lang="en-US" dirty="0" smtClean="0"/>
              <a:t> </a:t>
            </a:r>
            <a:r>
              <a:rPr lang="en-US" dirty="0"/>
              <a:t>Kiến trúc </a:t>
            </a:r>
            <a:r>
              <a:rPr lang="en-US" dirty="0" smtClean="0"/>
              <a:t>YOLO11n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283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Đặc điểm chính</a:t>
            </a:r>
            <a:r>
              <a:rPr lang="vi-VN" dirty="0" smtClean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2.6M tham số (nhỏ hơn 76% so với YOLOv8s)</a:t>
            </a:r>
          </a:p>
          <a:p>
            <a:pPr lvl="1"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Kiến trúc C3k2 modules mới</a:t>
            </a:r>
          </a:p>
          <a:p>
            <a:pPr lvl="1"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Improved attention mechanisms</a:t>
            </a:r>
          </a:p>
          <a:p>
            <a:pPr lvl="1"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SPPF (Spatial Pyramid Pooling - Fast)</a:t>
            </a:r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Cấu trúc mạng</a:t>
            </a:r>
            <a:r>
              <a:rPr lang="vi-VN" dirty="0" smtClean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vi-VN" dirty="0" smtClean="0">
                <a:latin typeface="Calibri" panose="020F0502020204030204" pitchFamily="34" charset="0"/>
                <a:cs typeface="Calibri" panose="020F0502020204030204" pitchFamily="34" charset="0"/>
              </a:rPr>
              <a:t>Layers 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tối ưu hơn YOLOv8</a:t>
            </a:r>
          </a:p>
          <a:p>
            <a:pPr lvl="1"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GFLOPs thấp hơn (~6.5)</a:t>
            </a:r>
          </a:p>
          <a:p>
            <a:pPr lvl="1"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Efficient design cho edge </a:t>
            </a:r>
            <a:r>
              <a:rPr lang="vi-VN" dirty="0" smtClean="0">
                <a:latin typeface="Calibri" panose="020F0502020204030204" pitchFamily="34" charset="0"/>
                <a:cs typeface="Calibri" panose="020F0502020204030204" pitchFamily="34" charset="0"/>
              </a:rPr>
              <a:t>devices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1"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Ưu điểm</a:t>
            </a:r>
            <a:r>
              <a:rPr lang="vi-VN" dirty="0" smtClean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vi-V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vi-VN" dirty="0" smtClean="0">
                <a:latin typeface="Calibri" panose="020F0502020204030204" pitchFamily="34" charset="0"/>
                <a:cs typeface="Calibri" panose="020F0502020204030204" pitchFamily="34" charset="0"/>
              </a:rPr>
              <a:t>Footprint 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nhỏ (phù hợp mobile/IoT)</a:t>
            </a:r>
          </a:p>
          <a:p>
            <a:pPr lvl="1"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Kiến trúc mới cải thiện hiệu quả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⚙️ Cấu hình Huấn luyện YOLO11n (Optimized)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205260"/>
              </p:ext>
            </p:extLst>
          </p:nvPr>
        </p:nvGraphicFramePr>
        <p:xfrm>
          <a:off x="612644" y="1463040"/>
          <a:ext cx="1008778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3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3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Tham số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Giá trị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Patience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cos_lr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Dropout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Warmup 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MixUp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dirty="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Perspective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Training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dirty="0" smtClean="0"/>
                        <a:t>5h</a:t>
                      </a:r>
                      <a:r>
                        <a:rPr lang="en-US" baseline="0" dirty="0" smtClean="0"/>
                        <a:t>30m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🔄 Quá trình Huấn luyện YOLO11n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515600" cy="4534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smtClean="0"/>
              <a:t>Thời </a:t>
            </a:r>
            <a:r>
              <a:rPr dirty="0"/>
              <a:t>gian Huấn luyện: </a:t>
            </a:r>
            <a:r>
              <a:rPr lang="en-US" dirty="0" smtClean="0"/>
              <a:t>5</a:t>
            </a:r>
            <a:r>
              <a:rPr dirty="0" smtClean="0"/>
              <a:t> </a:t>
            </a:r>
            <a:r>
              <a:rPr dirty="0"/>
              <a:t>giờ </a:t>
            </a:r>
            <a:r>
              <a:rPr dirty="0" smtClean="0"/>
              <a:t>30 phút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 smtClean="0"/>
              <a:t>    ◦ Platform: Kaggle Notebook với NVIDIA P100 GPU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 smtClean="0"/>
              <a:t>    </a:t>
            </a:r>
            <a:r>
              <a:rPr dirty="0"/>
              <a:t>◦ GPU Memory: 16GB VRAM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Epochs: 100 epochs với early stopping (patience=25)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Batch size: 16 </a:t>
            </a:r>
            <a:r>
              <a:rPr dirty="0" smtClean="0"/>
              <a:t>images/batch</a:t>
            </a:r>
            <a:endParaRPr lang="en-US"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lang="en-US" dirty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📈 Tiến trình mAP@50 theo Epoch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Epoch 10: 38.56% (khởi động)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Epoch 25: 54.21% (đang học)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Epoch 50: 59.78% (ổn định)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Epoch 75: 61.02% (gần hội tụ)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Epoch 100: 62.59% (kết thúc</a:t>
            </a:r>
            <a:r>
              <a:rPr dirty="0" smtClean="0"/>
              <a:t>)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6766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📊 Đường cong Huấn luyện </a:t>
            </a:r>
            <a:r>
              <a:rPr dirty="0" smtClean="0"/>
              <a:t>YOLO</a:t>
            </a:r>
            <a:r>
              <a:rPr lang="en-US" dirty="0" smtClean="0"/>
              <a:t>11n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08" y="1143000"/>
            <a:ext cx="10972822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471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9012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🎯 Confusion Matrix </a:t>
            </a:r>
            <a:r>
              <a:rPr lang="en-US" dirty="0" smtClean="0"/>
              <a:t>–</a:t>
            </a:r>
            <a:r>
              <a:rPr dirty="0" smtClean="0"/>
              <a:t> YOLO</a:t>
            </a:r>
            <a:r>
              <a:rPr lang="en-US" dirty="0" smtClean="0"/>
              <a:t>11n</a:t>
            </a:r>
            <a:endParaRPr dirty="0"/>
          </a:p>
        </p:txBody>
      </p:sp>
      <p:pic>
        <p:nvPicPr>
          <p:cNvPr id="7" name="Picture 6" descr="C:\Users\nguye\OneDrive\documents\PT_NHANDANGMAU\projectFinal\all output\runs\yolov8n_waste\confusion_matrix_normalized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00" y="1200149"/>
            <a:ext cx="8839199" cy="54685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44844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Kết quả YOLO11n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mAP@50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t>62.59%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t>Mean Average 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mAP@50-95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0312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t>42.28%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8346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t>Strict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t>77.30%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t>Độ chính xác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2194" y="3735421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35074" y="3749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5074" y="42062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rPr dirty="0"/>
              <a:t>58.88%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5074" y="4963052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rPr dirty="0"/>
              <a:t>Độ bao phủ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4476" y="3735421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380157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FPS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3256" y="4186785"/>
            <a:ext cx="147829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rPr lang="en-US" dirty="0" smtClean="0"/>
              <a:t>102.55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6277356" y="4918305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t>Frames per Second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3789" y="1645920"/>
            <a:ext cx="65274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 smtClean="0"/>
              <a:t>0</a:t>
            </a:r>
            <a:r>
              <a:rPr lang="en-US" dirty="0" smtClean="0"/>
              <a:t>5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286000" y="1463040"/>
            <a:ext cx="487556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12121"/>
                </a:solidFill>
              </a:defRPr>
            </a:pPr>
            <a:r>
              <a:rPr dirty="0"/>
              <a:t>GIẢI PHÁP </a:t>
            </a:r>
            <a:r>
              <a:rPr lang="en-US" dirty="0" smtClean="0"/>
              <a:t>3</a:t>
            </a:r>
            <a:r>
              <a:rPr dirty="0" smtClean="0"/>
              <a:t>: YO</a:t>
            </a:r>
            <a:r>
              <a:rPr lang="en-US" dirty="0" smtClean="0"/>
              <a:t>LOv8s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286000" y="2468880"/>
            <a:ext cx="237058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757575"/>
                </a:solidFill>
              </a:defRPr>
            </a:pPr>
            <a:r>
              <a:rPr dirty="0"/>
              <a:t>YOLO Version </a:t>
            </a:r>
            <a:r>
              <a:rPr lang="en-US" dirty="0" smtClean="0"/>
              <a:t>8 small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30706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997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🏗️ Kiến trúc </a:t>
            </a:r>
            <a:r>
              <a:rPr dirty="0" smtClean="0"/>
              <a:t>YOLOv8</a:t>
            </a:r>
            <a:r>
              <a:rPr lang="en-US" dirty="0" smtClean="0"/>
              <a:t>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64115" y="1449422"/>
            <a:ext cx="10515600" cy="530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 smtClean="0"/>
              <a:t>• Đặc điểm chính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 smtClean="0"/>
              <a:t>    ◦ </a:t>
            </a:r>
            <a:r>
              <a:rPr lang="en-US" dirty="0"/>
              <a:t>11.2M tham </a:t>
            </a:r>
            <a:r>
              <a:rPr lang="en-US" dirty="0" smtClean="0"/>
              <a:t>số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 smtClean="0"/>
              <a:t> </a:t>
            </a:r>
            <a:r>
              <a:rPr lang="en-US" dirty="0" smtClean="0"/>
              <a:t>   ◦ Backbone</a:t>
            </a:r>
            <a:r>
              <a:rPr lang="en-US" dirty="0"/>
              <a:t>: CSPDarknet với C2f blocks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lang="en-US" dirty="0" smtClean="0"/>
              <a:t>    ◦ Neck</a:t>
            </a:r>
            <a:r>
              <a:rPr lang="en-US" dirty="0"/>
              <a:t>: PAN-FPN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lang="en-US" dirty="0" smtClean="0"/>
              <a:t>    ◦ Head</a:t>
            </a:r>
            <a:r>
              <a:rPr lang="en-US" dirty="0"/>
              <a:t>: Decoupled detection head</a:t>
            </a:r>
            <a:r>
              <a:rPr dirty="0" smtClean="0"/>
              <a:t>    </a:t>
            </a:r>
            <a:endParaRPr lang="en-US"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dirty="0" smtClean="0"/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 smtClean="0"/>
              <a:t>• Cấu trúc mạng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 smtClean="0"/>
              <a:t>    ◦ </a:t>
            </a:r>
            <a:r>
              <a:rPr lang="en-US" dirty="0"/>
              <a:t>225 layers (72 fused)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lang="en-US" dirty="0" smtClean="0"/>
              <a:t>    ◦ GFLOPs</a:t>
            </a:r>
            <a:r>
              <a:rPr lang="en-US" dirty="0"/>
              <a:t>: 28.5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lang="en-US" dirty="0" smtClean="0"/>
              <a:t>    ◦ Sử </a:t>
            </a:r>
            <a:r>
              <a:rPr lang="en-US" dirty="0"/>
              <a:t>dụng anchor-free </a:t>
            </a:r>
            <a:r>
              <a:rPr lang="en-US" dirty="0" smtClean="0"/>
              <a:t>detection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dirty="0" smtClean="0"/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 smtClean="0"/>
              <a:t>• Ưu điểm YOLOv8n (Nano)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 smtClean="0"/>
              <a:t>    ◦ </a:t>
            </a:r>
            <a:r>
              <a:rPr lang="en-US" dirty="0"/>
              <a:t>Cân bằng tốt giữa tốc độ và độ chính xác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lang="en-US" dirty="0" smtClean="0"/>
              <a:t>    ◦ Phù </a:t>
            </a:r>
            <a:r>
              <a:rPr lang="en-US" dirty="0"/>
              <a:t>hợp cho triển khai production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lang="en-US" dirty="0" smtClean="0"/>
              <a:t>    ◦ Khả </a:t>
            </a:r>
            <a:r>
              <a:rPr lang="en-US" dirty="0"/>
              <a:t>năng generalization tốt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4272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9137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🔄 Quá trình Huấn luyện </a:t>
            </a:r>
            <a:r>
              <a:rPr dirty="0" smtClean="0"/>
              <a:t>YOLO</a:t>
            </a:r>
            <a:r>
              <a:rPr lang="en-US" dirty="0" smtClean="0"/>
              <a:t>v8s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515600" cy="420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smtClean="0"/>
              <a:t>Thời </a:t>
            </a:r>
            <a:r>
              <a:rPr dirty="0"/>
              <a:t>gian Huấn luyện: </a:t>
            </a:r>
            <a:r>
              <a:rPr lang="en-US" dirty="0" smtClean="0"/>
              <a:t>5</a:t>
            </a:r>
            <a:r>
              <a:rPr dirty="0" smtClean="0"/>
              <a:t> </a:t>
            </a:r>
            <a:r>
              <a:rPr dirty="0"/>
              <a:t>giờ </a:t>
            </a:r>
            <a:r>
              <a:rPr dirty="0" smtClean="0"/>
              <a:t>30 phút</a:t>
            </a:r>
            <a:r>
              <a:rPr lang="en-US" dirty="0" smtClean="0"/>
              <a:t> cho 68 epoch </a:t>
            </a:r>
            <a:endParaRPr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 smtClean="0"/>
              <a:t>    ◦ Platform: Kaggle Notebook với NVIDIA P100 GPU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 smtClean="0"/>
              <a:t>    </a:t>
            </a:r>
            <a:r>
              <a:rPr dirty="0"/>
              <a:t>◦ GPU Memory: 16GB VRAM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Epochs: 100 epochs với early stopping (</a:t>
            </a:r>
            <a:r>
              <a:rPr dirty="0" smtClean="0"/>
              <a:t>patience=2</a:t>
            </a:r>
            <a:r>
              <a:rPr lang="en-US" dirty="0" smtClean="0"/>
              <a:t>0</a:t>
            </a:r>
            <a:r>
              <a:rPr dirty="0" smtClean="0"/>
              <a:t>)</a:t>
            </a: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Batch size: 16 </a:t>
            </a:r>
            <a:r>
              <a:rPr dirty="0" smtClean="0"/>
              <a:t>images/batch</a:t>
            </a:r>
            <a:endParaRPr lang="en-US"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lang="en-US" dirty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📈 Tiến trình mAP@50 theo Epoch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Epoch 10: </a:t>
            </a:r>
            <a:r>
              <a:rPr lang="en-US" dirty="0" smtClean="0"/>
              <a:t>46</a:t>
            </a:r>
            <a:r>
              <a:rPr dirty="0" smtClean="0"/>
              <a:t>.</a:t>
            </a:r>
            <a:r>
              <a:rPr lang="en-US" dirty="0" smtClean="0"/>
              <a:t>3</a:t>
            </a:r>
            <a:r>
              <a:rPr dirty="0" smtClean="0"/>
              <a:t>% </a:t>
            </a:r>
            <a:r>
              <a:rPr dirty="0"/>
              <a:t>(khởi động)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Epoch </a:t>
            </a:r>
            <a:r>
              <a:rPr lang="en-US" dirty="0" smtClean="0"/>
              <a:t>20</a:t>
            </a:r>
            <a:r>
              <a:rPr dirty="0" smtClean="0"/>
              <a:t>: </a:t>
            </a:r>
            <a:r>
              <a:rPr lang="en-US" dirty="0" smtClean="0"/>
              <a:t>61.2</a:t>
            </a:r>
            <a:r>
              <a:rPr dirty="0" smtClean="0"/>
              <a:t>% </a:t>
            </a:r>
            <a:r>
              <a:rPr dirty="0"/>
              <a:t>(đang học)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Epoch </a:t>
            </a:r>
            <a:r>
              <a:rPr lang="en-US" dirty="0" smtClean="0"/>
              <a:t>40</a:t>
            </a:r>
            <a:r>
              <a:rPr dirty="0" smtClean="0"/>
              <a:t>: </a:t>
            </a:r>
            <a:r>
              <a:rPr lang="en-US" dirty="0" smtClean="0"/>
              <a:t>66</a:t>
            </a:r>
            <a:r>
              <a:rPr dirty="0" smtClean="0"/>
              <a:t>.</a:t>
            </a:r>
            <a:r>
              <a:rPr lang="en-US" dirty="0" smtClean="0"/>
              <a:t>3</a:t>
            </a:r>
            <a:r>
              <a:rPr dirty="0" smtClean="0"/>
              <a:t>% (</a:t>
            </a:r>
            <a:r>
              <a:rPr lang="en-US" dirty="0"/>
              <a:t>gần hội tụ</a:t>
            </a:r>
            <a:r>
              <a:rPr dirty="0" smtClean="0"/>
              <a:t>)</a:t>
            </a: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lang="en-US" dirty="0" smtClean="0"/>
              <a:t>    </a:t>
            </a:r>
            <a:r>
              <a:rPr dirty="0" smtClean="0"/>
              <a:t>◦ </a:t>
            </a:r>
            <a:r>
              <a:rPr dirty="0"/>
              <a:t>Epoch </a:t>
            </a:r>
            <a:r>
              <a:rPr lang="en-US" dirty="0" smtClean="0"/>
              <a:t>68</a:t>
            </a:r>
            <a:r>
              <a:rPr dirty="0" smtClean="0"/>
              <a:t>: 6</a:t>
            </a:r>
            <a:r>
              <a:rPr lang="en-US" dirty="0" smtClean="0"/>
              <a:t>8</a:t>
            </a:r>
            <a:r>
              <a:rPr dirty="0" smtClean="0"/>
              <a:t>.5% </a:t>
            </a:r>
            <a:r>
              <a:rPr dirty="0"/>
              <a:t>(kết thúc</a:t>
            </a:r>
            <a:r>
              <a:rPr dirty="0" smtClean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70998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80646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📊 Đường cong Huấn luyện </a:t>
            </a:r>
            <a:r>
              <a:rPr dirty="0" smtClean="0"/>
              <a:t>YOLO</a:t>
            </a:r>
            <a:r>
              <a:rPr lang="en-US" dirty="0" smtClean="0"/>
              <a:t>v8ns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53" y="1322962"/>
            <a:ext cx="11817931" cy="514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3435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83876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🎯 Confusion Matrix </a:t>
            </a:r>
            <a:r>
              <a:rPr lang="en-US" dirty="0" smtClean="0"/>
              <a:t>–</a:t>
            </a:r>
            <a:r>
              <a:rPr dirty="0" smtClean="0"/>
              <a:t> YOLO</a:t>
            </a:r>
            <a:r>
              <a:rPr lang="en-US" dirty="0" smtClean="0"/>
              <a:t>v8s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19" y="980420"/>
            <a:ext cx="10953749" cy="598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5002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56289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📊 Kết quả </a:t>
            </a:r>
            <a:r>
              <a:rPr dirty="0" smtClean="0"/>
              <a:t>YOLO</a:t>
            </a:r>
            <a:r>
              <a:rPr lang="en-US" dirty="0" smtClean="0"/>
              <a:t>v8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mAP@50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2578" y="2103120"/>
            <a:ext cx="134684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rPr dirty="0" smtClean="0"/>
              <a:t>6</a:t>
            </a:r>
            <a:r>
              <a:rPr lang="en-US" dirty="0" smtClean="0"/>
              <a:t>8</a:t>
            </a:r>
            <a:r>
              <a:rPr dirty="0" smtClean="0"/>
              <a:t>.5%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t>Mean Average 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mAP@50-95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4598" y="2103120"/>
            <a:ext cx="158088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rPr dirty="0" smtClean="0"/>
              <a:t>4</a:t>
            </a:r>
            <a:r>
              <a:rPr lang="en-US" dirty="0"/>
              <a:t>6</a:t>
            </a:r>
            <a:r>
              <a:rPr dirty="0" smtClean="0"/>
              <a:t>.</a:t>
            </a:r>
            <a:r>
              <a:rPr lang="en-US" dirty="0" smtClean="0"/>
              <a:t>13</a:t>
            </a:r>
            <a:r>
              <a:rPr dirty="0" smtClean="0"/>
              <a:t>%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480560" y="28346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t>Strict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3637" y="2103120"/>
            <a:ext cx="158088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rPr lang="en-US" dirty="0" smtClean="0"/>
              <a:t>80</a:t>
            </a:r>
            <a:r>
              <a:rPr dirty="0" smtClean="0"/>
              <a:t>.</a:t>
            </a:r>
            <a:r>
              <a:rPr lang="en-US" dirty="0" smtClean="0"/>
              <a:t>64</a:t>
            </a:r>
            <a:r>
              <a:rPr dirty="0" smtClean="0"/>
              <a:t>%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t>Độ chính xác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2194" y="3735421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35074" y="37490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9112" y="4206240"/>
            <a:ext cx="158088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rPr dirty="0" smtClean="0"/>
              <a:t>5</a:t>
            </a:r>
            <a:r>
              <a:rPr lang="en-US" dirty="0" smtClean="0"/>
              <a:t>9</a:t>
            </a:r>
            <a:r>
              <a:rPr dirty="0" smtClean="0"/>
              <a:t>.</a:t>
            </a:r>
            <a:r>
              <a:rPr lang="en-US" dirty="0" smtClean="0"/>
              <a:t>78</a:t>
            </a:r>
            <a:r>
              <a:rPr dirty="0" smtClean="0"/>
              <a:t>%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735074" y="4963052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rPr dirty="0"/>
              <a:t>Độ bao phủ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4476" y="3735421"/>
            <a:ext cx="347472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380157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FPS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276" y="4186785"/>
            <a:ext cx="124425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</a:defRPr>
            </a:pPr>
            <a:r>
              <a:rPr lang="en-US" dirty="0" smtClean="0"/>
              <a:t>73.15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6277356" y="4918305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57575"/>
                </a:solidFill>
              </a:defRPr>
            </a:pPr>
            <a:r>
              <a:t>Frames per Second</a:t>
            </a:r>
          </a:p>
        </p:txBody>
      </p:sp>
    </p:spTree>
    <p:extLst>
      <p:ext uri="{BB962C8B-B14F-4D97-AF65-F5344CB8AC3E}">
        <p14:creationId xmlns:p14="http://schemas.microsoft.com/office/powerpoint/2010/main" val="16374062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3789" y="1645920"/>
            <a:ext cx="65274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 smtClean="0"/>
              <a:t>0</a:t>
            </a:r>
            <a:r>
              <a:rPr lang="en-US" dirty="0" smtClean="0"/>
              <a:t>6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286000" y="1591652"/>
            <a:ext cx="449834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12121"/>
                </a:solidFill>
              </a:defRPr>
            </a:pPr>
            <a:r>
              <a:rPr lang="en-US" dirty="0" smtClean="0"/>
              <a:t>So sánh và đánh giá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82473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42476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⚖️ So sánh Chi tiết: YOLOv8n vs </a:t>
            </a:r>
            <a:r>
              <a:rPr dirty="0" smtClean="0"/>
              <a:t>YOLO11n</a:t>
            </a:r>
            <a:r>
              <a:rPr lang="en-US" dirty="0" smtClean="0"/>
              <a:t> vs YOLOv8s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75319"/>
              </p:ext>
            </p:extLst>
          </p:nvPr>
        </p:nvGraphicFramePr>
        <p:xfrm>
          <a:off x="612648" y="1463037"/>
          <a:ext cx="10972800" cy="4577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397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Metrics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smtClean="0"/>
                        <a:t>YOLOv8n</a:t>
                      </a:r>
                      <a:endParaRPr dirty="0"/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YOLO11n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 smtClean="0"/>
                        <a:t>YOLOv8s ⭐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 dirty="0"/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977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mAP@50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0.6391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0.6259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dirty="0" smtClean="0"/>
                        <a:t>0.639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977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mAP@50-95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0.4377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0.4228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dirty="0" smtClean="0"/>
                        <a:t>9.4377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977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0.7730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dirty="0" smtClean="0"/>
                        <a:t>0.8064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977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0.6267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0.5888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dirty="0" smtClean="0"/>
                        <a:t>0.59785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977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dirty="0"/>
                        <a:t>Inference (ms)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dirty="0" smtClean="0"/>
                        <a:t>8.3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dirty="0" smtClean="0"/>
                        <a:t>9.8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dirty="0" smtClean="0"/>
                        <a:t>13.7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3977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dirty="0" smtClean="0"/>
                        <a:t>119.9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dirty="0" smtClean="0"/>
                        <a:t>102.55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dirty="0" smtClean="0"/>
                        <a:t>73.15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📊 Biểu đồ So sánh Models</a:t>
            </a: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93779" y="1142999"/>
            <a:ext cx="9591472" cy="505351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14155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🎯 Kết luận: Tại sao chọn </a:t>
            </a:r>
            <a:r>
              <a:rPr dirty="0" smtClean="0"/>
              <a:t>YOLOv8</a:t>
            </a:r>
            <a:r>
              <a:rPr lang="en-US" dirty="0" smtClean="0"/>
              <a:t>s</a:t>
            </a:r>
            <a:r>
              <a:rPr dirty="0" smtClean="0"/>
              <a:t>?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82882" y="1770434"/>
            <a:ext cx="10515600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- </a:t>
            </a:r>
            <a:r>
              <a:rPr lang="vi-V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Độ chính xác cao nhất (mAP@0.5 tốt nhất)</a:t>
            </a:r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- </a:t>
            </a:r>
            <a:r>
              <a:rPr lang="vi-V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Cân bằng speed-accuracy phù hợp production</a:t>
            </a:r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- </a:t>
            </a:r>
            <a:r>
              <a:rPr lang="vi-V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Generalization tốt (validation → test)</a:t>
            </a:r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- </a:t>
            </a:r>
            <a:r>
              <a:rPr lang="vi-V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Phù hợp triển khai cloud/server (backend API)</a:t>
            </a:r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- </a:t>
            </a:r>
            <a:r>
              <a:rPr lang="vi-V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Trade-off hợp lý: Hi sinh ít tốc độ để có accuracy vượt trội</a:t>
            </a:r>
            <a:endParaRPr sz="2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4630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12121"/>
                </a:solidFill>
              </a:defRPr>
            </a:pPr>
            <a:r>
              <a:t>SẢN PHẨM CUỐI CÙNG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4688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757575"/>
                </a:solidFill>
              </a:defRPr>
            </a:pPr>
            <a:r>
              <a:t>EcoSort AI - Web Application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🏗️ Kiến trúc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Backend (FastAPI + Python)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API Endpoints: /predict/image, /ws/stream, /system/status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AI Core: YOLO inference engine với PyTorch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Image Processing: OpenCV + NumPy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WebSocket: Real-time camera streaming</a:t>
            </a:r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Frontend (HTML5 + CSS3 + JavaScript)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4 Modules: Detection, Statistics, Control, Decision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Chart.js cho real-time analytics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Responsive design (Desktop/Mobile)</a:t>
            </a:r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AI Model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t>    </a:t>
            </a:r>
            <a:r>
              <a:rPr/>
              <a:t>◦ </a:t>
            </a:r>
            <a:r>
              <a:rPr smtClean="0"/>
              <a:t>YOLOv8</a:t>
            </a:r>
            <a:r>
              <a:rPr lang="en-US" smtClean="0"/>
              <a:t>s</a:t>
            </a:r>
            <a:r>
              <a:rPr smtClean="0"/>
              <a:t> </a:t>
            </a:r>
            <a:r>
              <a:t>(best.pt) - 6.1MB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40 classes, 3 categories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ONNX/TorchScript export available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✨ Tính năng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🖼️ Upload Image Detection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Hỗ trợ JPG, PNG, JPEG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Hiển thị bounding boxes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Confidence threshold adjustable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📹 Real-time Camera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WebSocket streaming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30+ FPS performance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Auto-classification display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188720"/>
            <a:ext cx="27432" cy="50292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📊 Analytics Dashboard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Real-time statistics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Category distribution chart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Detection history log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🎛️ Control Panel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Confidence slider (0-100%)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Category filter toggle</a:t>
            </a:r>
          </a:p>
          <a:p>
            <a:pPr>
              <a:spcAft>
                <a:spcPts val="800"/>
              </a:spcAft>
              <a:defRPr sz="1600">
                <a:solidFill>
                  <a:srgbClr val="212121"/>
                </a:solidFill>
              </a:defRPr>
            </a:pPr>
            <a:r>
              <a:t>• Snapshot capture feature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🔌 API Endpoints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953844"/>
              </p:ext>
            </p:extLst>
          </p:nvPr>
        </p:nvGraphicFramePr>
        <p:xfrm>
          <a:off x="612648" y="1463040"/>
          <a:ext cx="10972800" cy="3974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781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817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/predict/image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Phân loại từ ảnh upload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817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WebSocket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/ws/stream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Real-time camera stream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817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/system/status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Trạng thái hệ thống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817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/statistics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Thống kê phân loại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817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dirty="0"/>
                        <a:t>/snapshot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Lưu ảnh capture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817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dirty="0"/>
                        <a:t>/logs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dirty="0"/>
                        <a:t>Xem lịch sử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🖥️ Giao diện Demo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28" y="1351380"/>
            <a:ext cx="11261187" cy="516675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🔍 Demo Kết quả Nhận diện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274" y="1138797"/>
            <a:ext cx="8207451" cy="543353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4630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12121"/>
                </a:solidFill>
              </a:defRPr>
            </a:pPr>
            <a:r>
              <a:t>KẾT LUẬN &amp; HƯỚNG PHÁT TRIỂN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4688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757575"/>
                </a:solidFill>
              </a:defRPr>
            </a:pPr>
            <a:r>
              <a:t>Conclusion &amp; Future Work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🏆 Tổng kết Kết quả Đạt được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975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✅ Hoàn thành các mục tiêu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Nhận diện 40 loại rác thải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Phân loại 3 nhóm: Hữu cơ, Vô cơ, Tái chế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Độ chính xác: mAP@50 = </a:t>
            </a:r>
            <a:r>
              <a:rPr dirty="0" smtClean="0"/>
              <a:t>6</a:t>
            </a:r>
            <a:r>
              <a:rPr lang="en-US" dirty="0" smtClean="0"/>
              <a:t>8.5</a:t>
            </a:r>
            <a:r>
              <a:rPr dirty="0" smtClean="0"/>
              <a:t>% </a:t>
            </a:r>
            <a:endParaRPr lang="en-US"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dirty="0" smtClean="0"/>
              <a:t>◦ </a:t>
            </a:r>
            <a:r>
              <a:rPr dirty="0"/>
              <a:t>Tốc độ: </a:t>
            </a:r>
            <a:r>
              <a:rPr lang="en-US" dirty="0" smtClean="0"/>
              <a:t>73.15</a:t>
            </a:r>
            <a:r>
              <a:rPr dirty="0" smtClean="0"/>
              <a:t> FPS</a:t>
            </a:r>
            <a:endParaRPr lang="en-US"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🔬 Đóng góp khoa học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So sánh chi tiết YOLOv8n vs YOLO11n </a:t>
            </a:r>
            <a:r>
              <a:rPr lang="en-US" dirty="0" smtClean="0"/>
              <a:t>vs YOLOv8s </a:t>
            </a:r>
            <a:r>
              <a:rPr dirty="0" smtClean="0"/>
              <a:t>trên </a:t>
            </a:r>
            <a:r>
              <a:rPr dirty="0"/>
              <a:t>waste dataset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Phân tích định lượng các metrics và trade-offs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Xây dựng pipeline hoàn chỉnh từ training đến </a:t>
            </a:r>
            <a:r>
              <a:rPr dirty="0" smtClean="0"/>
              <a:t>deployment</a:t>
            </a:r>
            <a:endParaRPr lang="en-US"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💻 Sản phẩm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Web application với real-time detection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API backend có thể tích hợp vào các hệ thống khác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⚠️ Hạn chế &amp; Thách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22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Hạn chế của mô hình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Một số lớp có độ chính xác chưa cao (Cardboard/Styrofoam nhầm lẫn)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Dataset không cân bằng giữa các categories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Chưa test trên nhiều điều kiện ánh sáng khác </a:t>
            </a:r>
            <a:r>
              <a:rPr dirty="0" smtClean="0"/>
              <a:t>nhau</a:t>
            </a:r>
            <a:endParaRPr lang="en-US"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Thách thức gặp phải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Thời gian train dài (4-5 giờ/model với GPU)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Cần cải thiện inference speed cho mobile deployment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WebSocket streaming cần tối ưu bandwidth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🚀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975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Cải thiện mô hình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Thu thập thêm dữ liệu cho các lớp khó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Thử nghiệm Data Augmentation nâng cao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Fine-tune với Transfer Learning từ domain-specific </a:t>
            </a:r>
            <a:r>
              <a:rPr dirty="0" smtClean="0"/>
              <a:t>dataset</a:t>
            </a:r>
            <a:endParaRPr lang="en-US"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Mở rộng ứng dụng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Mobile App (React Native/Flutter)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Edge deployment (Raspberry Pi, Jetson Nano)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Integration với IoT Smart </a:t>
            </a:r>
            <a:r>
              <a:rPr dirty="0" smtClean="0"/>
              <a:t>Bin</a:t>
            </a:r>
            <a:endParaRPr lang="en-US"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Tính năng mới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Multi-object tracking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Voice feedback cho người khiếm thị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Gamification để khuyến khích phân loại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🙏 CẢM ƠN ĐÃ LẮNG NGHE!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rPr dirty="0"/>
              <a:t>Q&amp;A Time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📧 [Email]</a:t>
            </a:r>
            <a:br>
              <a:rPr dirty="0"/>
            </a:br>
            <a:r>
              <a:rPr dirty="0"/>
              <a:t>🔗 [GitHub Repository]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📚 Tài liệu Tham khảo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96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Mô hình YOLO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Ultralytics YOLOv8: https://github.com/ultralytics/ultralytics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YOLO11 Documentation: </a:t>
            </a:r>
            <a:r>
              <a:rPr dirty="0">
                <a:hlinkClick r:id="rId2"/>
              </a:rPr>
              <a:t>https://</a:t>
            </a:r>
            <a:r>
              <a:rPr dirty="0" smtClean="0">
                <a:hlinkClick r:id="rId2"/>
              </a:rPr>
              <a:t>docs.ultralytics.com</a:t>
            </a:r>
            <a:endParaRPr lang="en-US"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Framework &amp; Libraries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FastAPI: https://fastapi.tiangolo.com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PyTorch: https://pytorch.org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OpenCV: </a:t>
            </a:r>
            <a:r>
              <a:rPr dirty="0">
                <a:hlinkClick r:id="rId3"/>
              </a:rPr>
              <a:t>https://</a:t>
            </a:r>
            <a:r>
              <a:rPr dirty="0" smtClean="0">
                <a:hlinkClick r:id="rId3"/>
              </a:rPr>
              <a:t>opencv.org</a:t>
            </a:r>
            <a:endParaRPr lang="en-US" dirty="0" smtClean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200">
                <a:solidFill>
                  <a:srgbClr val="212121"/>
                </a:solidFill>
              </a:defRPr>
            </a:pPr>
            <a:r>
              <a:rPr dirty="0"/>
              <a:t>• Dataset</a:t>
            </a:r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Waste Classification Dataset </a:t>
            </a:r>
            <a:r>
              <a:rPr lang="en-US" dirty="0" smtClean="0"/>
              <a:t>–</a:t>
            </a:r>
            <a:r>
              <a:rPr dirty="0" smtClean="0"/>
              <a:t> Kaggle</a:t>
            </a:r>
            <a:r>
              <a:rPr lang="en-US" dirty="0"/>
              <a:t>:https://</a:t>
            </a:r>
            <a:r>
              <a:rPr lang="en-US" dirty="0" smtClean="0"/>
              <a:t>www.kaggle.com/datasets/caodatan/waste-organic-inorganic-reclycable-yolov8/data</a:t>
            </a:r>
            <a:endParaRPr dirty="0"/>
          </a:p>
          <a:p>
            <a:pPr>
              <a:spcAft>
                <a:spcPts val="400"/>
              </a:spcAft>
              <a:defRPr sz="1800">
                <a:solidFill>
                  <a:srgbClr val="757575"/>
                </a:solidFill>
              </a:defRPr>
            </a:pPr>
            <a:r>
              <a:rPr dirty="0"/>
              <a:t>    ◦ 40 classes, 3 categories (Organic, Inorganic, Recyclable)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2622</Words>
  <Application>Microsoft Office PowerPoint</Application>
  <PresentationFormat>Widescreen</PresentationFormat>
  <Paragraphs>496</Paragraphs>
  <Slides>49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Trang Thuy</cp:lastModifiedBy>
  <cp:revision>21</cp:revision>
  <dcterms:created xsi:type="dcterms:W3CDTF">2013-01-27T09:14:16Z</dcterms:created>
  <dcterms:modified xsi:type="dcterms:W3CDTF">2025-12-21T14:14:10Z</dcterms:modified>
  <cp:category/>
</cp:coreProperties>
</file>